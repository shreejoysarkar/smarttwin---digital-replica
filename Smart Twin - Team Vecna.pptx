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Roboto" panose="02000000000000000000" pitchFamily="2" charset="0"/>
      <p:regular r:id="rId12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0692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2.png"/><Relationship Id="rId18" Type="http://schemas.openxmlformats.org/officeDocument/2006/relationships/image" Target="../media/image3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17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sv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Relationship Id="rId14" Type="http://schemas.openxmlformats.org/officeDocument/2006/relationships/image" Target="../media/image33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6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4285655" y="1526282"/>
            <a:ext cx="7426690" cy="13507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5320"/>
              </a:lnSpc>
              <a:buNone/>
            </a:pPr>
            <a:r>
              <a:rPr lang="en-US" sz="4163" kern="0" spc="42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Twin - Digital Twin for Industrial Monitoring</a:t>
            </a:r>
            <a:endParaRPr lang="en-US" dirty="0"/>
          </a:p>
        </p:txBody>
      </p:sp>
      <p:sp>
        <p:nvSpPr>
          <p:cNvPr id="3" name="Object 2"/>
          <p:cNvSpPr/>
          <p:nvPr/>
        </p:nvSpPr>
        <p:spPr>
          <a:xfrm>
            <a:off x="0" y="0"/>
            <a:ext cx="3809047" cy="6856286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pic>
        <p:nvPicPr>
          <p:cNvPr id="4" name="Object 3" descr="image.png"/>
          <p:cNvPicPr>
            <a:picLocks noChangeAspect="1"/>
          </p:cNvPicPr>
          <p:nvPr/>
        </p:nvPicPr>
        <p:blipFill>
          <a:blip r:embed="rId3"/>
          <a:srcRect l="33347" t="-2326" r="8513" b="-2326"/>
          <a:stretch/>
        </p:blipFill>
        <p:spPr>
          <a:xfrm>
            <a:off x="0" y="0"/>
            <a:ext cx="3809047" cy="6856286"/>
          </a:xfrm>
          <a:prstGeom prst="rect">
            <a:avLst/>
          </a:prstGeom>
        </p:spPr>
      </p:pic>
      <p:sp>
        <p:nvSpPr>
          <p:cNvPr id="5" name="Object 4"/>
          <p:cNvSpPr/>
          <p:nvPr/>
        </p:nvSpPr>
        <p:spPr>
          <a:xfrm>
            <a:off x="7408597" y="4732868"/>
            <a:ext cx="2378870" cy="18870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917"/>
              </a:lnSpc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271DDE-5E4D-CAB7-C7FE-77250705B8BC}"/>
              </a:ext>
            </a:extLst>
          </p:cNvPr>
          <p:cNvSpPr txBox="1"/>
          <p:nvPr/>
        </p:nvSpPr>
        <p:spPr>
          <a:xfrm>
            <a:off x="9703526" y="5696558"/>
            <a:ext cx="26539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Sahil </a:t>
            </a:r>
            <a:r>
              <a:rPr lang="en-IN" b="1" dirty="0" err="1">
                <a:solidFill>
                  <a:schemeClr val="accent1">
                    <a:lumMod val="75000"/>
                  </a:schemeClr>
                </a:solidFill>
              </a:rPr>
              <a:t>Kesharwani</a:t>
            </a:r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Shreejoy Sarkar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67D5F1-8207-A586-53EA-47CAD2F0A586}"/>
              </a:ext>
            </a:extLst>
          </p:cNvPr>
          <p:cNvSpPr txBox="1"/>
          <p:nvPr/>
        </p:nvSpPr>
        <p:spPr>
          <a:xfrm>
            <a:off x="6976532" y="3429000"/>
            <a:ext cx="2472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Team - Vecna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381857"/>
            <a:ext cx="12188952" cy="5408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260"/>
              </a:lnSpc>
              <a:buNone/>
            </a:pPr>
            <a:r>
              <a:rPr lang="en-US" sz="3750" b="1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Industrial Monitoring Challenge</a:t>
            </a:r>
            <a:endParaRPr lang="en-US" dirty="0"/>
          </a:p>
        </p:txBody>
      </p:sp>
      <p:sp>
        <p:nvSpPr>
          <p:cNvPr id="3" name="Object 2"/>
          <p:cNvSpPr/>
          <p:nvPr/>
        </p:nvSpPr>
        <p:spPr>
          <a:xfrm>
            <a:off x="1476006" y="2201629"/>
            <a:ext cx="1428393" cy="1428393"/>
          </a:xfrm>
          <a:prstGeom prst="ellipse">
            <a:avLst/>
          </a:prstGeom>
          <a:solidFill>
            <a:srgbClr val="00A0B0"/>
          </a:solidFill>
        </p:spPr>
      </p:sp>
      <p:pic>
        <p:nvPicPr>
          <p:cNvPr id="4" name="Object 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13138" y="2622895"/>
            <a:ext cx="914171" cy="599925"/>
          </a:xfrm>
          <a:prstGeom prst="rect">
            <a:avLst/>
          </a:prstGeom>
        </p:spPr>
      </p:pic>
      <p:sp>
        <p:nvSpPr>
          <p:cNvPr id="5" name="Object 4"/>
          <p:cNvSpPr/>
          <p:nvPr/>
        </p:nvSpPr>
        <p:spPr>
          <a:xfrm>
            <a:off x="398998" y="3711441"/>
            <a:ext cx="3582409" cy="8759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300"/>
              </a:lnSpc>
              <a:buNone/>
            </a:pPr>
            <a:r>
              <a:rPr lang="en-US" sz="1800" kern="0" spc="18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Industrial plants rely on </a:t>
            </a:r>
            <a:r>
              <a:rPr lang="en-US" sz="1800" b="1" kern="0" spc="18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monitoring</a:t>
            </a:r>
            <a:r>
              <a:rPr lang="en-US" sz="1800" kern="0" spc="18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machinery → prone to human error.  </a:t>
            </a:r>
            <a:endParaRPr lang="en-US" dirty="0"/>
          </a:p>
        </p:txBody>
      </p:sp>
      <p:sp>
        <p:nvSpPr>
          <p:cNvPr id="6" name="Object 5"/>
          <p:cNvSpPr/>
          <p:nvPr/>
        </p:nvSpPr>
        <p:spPr>
          <a:xfrm>
            <a:off x="5380280" y="2201629"/>
            <a:ext cx="1428393" cy="1428393"/>
          </a:xfrm>
          <a:prstGeom prst="ellipse">
            <a:avLst/>
          </a:prstGeom>
          <a:solidFill>
            <a:srgbClr val="97AA0F"/>
          </a:solidFill>
        </p:spPr>
      </p:sp>
      <p:pic>
        <p:nvPicPr>
          <p:cNvPr id="7" name="Object 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68062" y="2597784"/>
            <a:ext cx="666583" cy="638015"/>
          </a:xfrm>
          <a:prstGeom prst="rect">
            <a:avLst/>
          </a:prstGeom>
        </p:spPr>
      </p:pic>
      <p:sp>
        <p:nvSpPr>
          <p:cNvPr id="8" name="Object 7"/>
          <p:cNvSpPr/>
          <p:nvPr/>
        </p:nvSpPr>
        <p:spPr>
          <a:xfrm>
            <a:off x="4408020" y="3711441"/>
            <a:ext cx="3372912" cy="8759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300"/>
              </a:lnSpc>
              <a:buNone/>
            </a:pPr>
            <a:r>
              <a:rPr lang="en-US" sz="1800" kern="0" spc="18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Existing systems are often </a:t>
            </a:r>
            <a:r>
              <a:rPr lang="en-US" sz="1800" b="1" kern="0" spc="18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complex, expensive, and lack real-time visibility</a:t>
            </a:r>
            <a:r>
              <a:rPr lang="en-US" sz="1800" kern="0" spc="18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     </a:t>
            </a:r>
            <a:endParaRPr lang="en-US" dirty="0"/>
          </a:p>
        </p:txBody>
      </p:sp>
      <p:sp>
        <p:nvSpPr>
          <p:cNvPr id="9" name="Object 8"/>
          <p:cNvSpPr/>
          <p:nvPr/>
        </p:nvSpPr>
        <p:spPr>
          <a:xfrm>
            <a:off x="9284553" y="2201629"/>
            <a:ext cx="1428393" cy="1428393"/>
          </a:xfrm>
          <a:prstGeom prst="ellipse">
            <a:avLst/>
          </a:prstGeom>
          <a:solidFill>
            <a:srgbClr val="2980B9"/>
          </a:solidFill>
        </p:spPr>
      </p:sp>
      <p:pic>
        <p:nvPicPr>
          <p:cNvPr id="10" name="Object 9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14187" y="2622894"/>
            <a:ext cx="580880" cy="580880"/>
          </a:xfrm>
          <a:prstGeom prst="rect">
            <a:avLst/>
          </a:prstGeom>
        </p:spPr>
      </p:pic>
      <p:sp>
        <p:nvSpPr>
          <p:cNvPr id="11" name="Object 10"/>
          <p:cNvSpPr/>
          <p:nvPr/>
        </p:nvSpPr>
        <p:spPr>
          <a:xfrm>
            <a:off x="8191833" y="3711441"/>
            <a:ext cx="3613834" cy="8759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300"/>
              </a:lnSpc>
              <a:buNone/>
            </a:pPr>
            <a:r>
              <a:rPr lang="en-US" sz="1800" kern="0" spc="18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Unexpected machine failures cause: </a:t>
            </a:r>
            <a:r>
              <a:rPr lang="en-US" sz="1800" b="1" kern="0" spc="18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Costly downtime,</a:t>
            </a:r>
            <a:r>
              <a:rPr lang="en-US" sz="1800" kern="0" spc="18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800" b="1" kern="0" spc="18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Safety risks,</a:t>
            </a:r>
            <a:r>
              <a:rPr lang="en-US" sz="1800" kern="0" spc="18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800" b="1" kern="0" spc="18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productivity</a:t>
            </a:r>
            <a:r>
              <a:rPr lang="en-US" sz="1800" kern="0" spc="18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  </a:t>
            </a:r>
            <a:endParaRPr lang="en-US" dirty="0"/>
          </a:p>
        </p:txBody>
      </p:sp>
      <p:sp>
        <p:nvSpPr>
          <p:cNvPr id="12" name="Object 11"/>
          <p:cNvSpPr/>
          <p:nvPr/>
        </p:nvSpPr>
        <p:spPr>
          <a:xfrm>
            <a:off x="0" y="5713571"/>
            <a:ext cx="12188952" cy="1142714"/>
          </a:xfrm>
          <a:prstGeom prst="rect">
            <a:avLst/>
          </a:prstGeom>
          <a:solidFill>
            <a:srgbClr val="97AA0F"/>
          </a:solidFill>
        </p:spPr>
      </p:sp>
      <p:sp>
        <p:nvSpPr>
          <p:cNvPr id="13" name="Object 12"/>
          <p:cNvSpPr/>
          <p:nvPr/>
        </p:nvSpPr>
        <p:spPr>
          <a:xfrm>
            <a:off x="-114271" y="5938067"/>
            <a:ext cx="12417495" cy="7030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ts val="2769"/>
              </a:lnSpc>
              <a:buNone/>
            </a:pPr>
            <a:r>
              <a:rPr lang="en-US" sz="2438" b="1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Industries need a simple, intuitive, real-time system to monitor all instruments and detect issues early.     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381857"/>
            <a:ext cx="12188952" cy="5408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260"/>
              </a:lnSpc>
              <a:buNone/>
            </a:pPr>
            <a:r>
              <a:rPr lang="en-US" sz="3750" b="1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Industry Landscape &amp; Opportunity</a:t>
            </a:r>
            <a:endParaRPr lang="en-US" dirty="0"/>
          </a:p>
        </p:txBody>
      </p:sp>
      <p:sp>
        <p:nvSpPr>
          <p:cNvPr id="3" name="Object 2"/>
          <p:cNvSpPr/>
          <p:nvPr/>
        </p:nvSpPr>
        <p:spPr>
          <a:xfrm>
            <a:off x="8062484" y="1580755"/>
            <a:ext cx="3650337" cy="1377606"/>
          </a:xfrm>
          <a:prstGeom prst="rect">
            <a:avLst/>
          </a:prstGeom>
          <a:solidFill>
            <a:srgbClr val="E6F6F7"/>
          </a:solidFill>
        </p:spPr>
      </p:sp>
      <p:sp>
        <p:nvSpPr>
          <p:cNvPr id="4" name="Object 3"/>
          <p:cNvSpPr/>
          <p:nvPr/>
        </p:nvSpPr>
        <p:spPr>
          <a:xfrm>
            <a:off x="8245001" y="1649635"/>
            <a:ext cx="3285303" cy="1239845"/>
          </a:xfrm>
          <a:prstGeom prst="roundRect">
            <a:avLst/>
          </a:prstGeom>
          <a:solidFill>
            <a:srgbClr val="00A0B0"/>
          </a:solidFill>
        </p:spPr>
      </p:sp>
      <p:sp>
        <p:nvSpPr>
          <p:cNvPr id="5" name="Object 4"/>
          <p:cNvSpPr/>
          <p:nvPr/>
        </p:nvSpPr>
        <p:spPr>
          <a:xfrm>
            <a:off x="8504968" y="1907103"/>
            <a:ext cx="2765368" cy="7301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ts val="2876"/>
              </a:lnSpc>
              <a:buNone/>
            </a:pPr>
            <a:r>
              <a:rPr lang="en-US" sz="2250" kern="0" spc="22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 plants and processing units     </a:t>
            </a:r>
            <a:endParaRPr lang="en-US" dirty="0"/>
          </a:p>
        </p:txBody>
      </p:sp>
      <p:sp>
        <p:nvSpPr>
          <p:cNvPr id="6" name="Object 5"/>
          <p:cNvSpPr/>
          <p:nvPr/>
        </p:nvSpPr>
        <p:spPr>
          <a:xfrm>
            <a:off x="476131" y="1580755"/>
            <a:ext cx="7443514" cy="4418495"/>
          </a:xfrm>
          <a:prstGeom prst="rect">
            <a:avLst/>
          </a:prstGeom>
          <a:solidFill>
            <a:srgbClr val="E6F6F7"/>
          </a:solidFill>
        </p:spPr>
      </p:sp>
      <p:pic>
        <p:nvPicPr>
          <p:cNvPr id="7" name="Object 6" descr="output.png"/>
          <p:cNvPicPr>
            <a:picLocks noChangeAspect="1"/>
          </p:cNvPicPr>
          <p:nvPr/>
        </p:nvPicPr>
        <p:blipFill>
          <a:blip r:embed="rId3"/>
          <a:srcRect l="-33197" t="-1480" r="-33197" b="-1480"/>
          <a:stretch/>
        </p:blipFill>
        <p:spPr>
          <a:xfrm>
            <a:off x="476131" y="1580755"/>
            <a:ext cx="7443514" cy="4418495"/>
          </a:xfrm>
          <a:prstGeom prst="rect">
            <a:avLst/>
          </a:prstGeom>
        </p:spPr>
      </p:pic>
      <p:sp>
        <p:nvSpPr>
          <p:cNvPr id="8" name="Object 7"/>
          <p:cNvSpPr/>
          <p:nvPr/>
        </p:nvSpPr>
        <p:spPr>
          <a:xfrm>
            <a:off x="8062484" y="3101200"/>
            <a:ext cx="3650337" cy="1377606"/>
          </a:xfrm>
          <a:prstGeom prst="rect">
            <a:avLst/>
          </a:prstGeom>
          <a:solidFill>
            <a:srgbClr val="E6F6F7"/>
          </a:solidFill>
        </p:spPr>
      </p:sp>
      <p:sp>
        <p:nvSpPr>
          <p:cNvPr id="9" name="Object 8"/>
          <p:cNvSpPr/>
          <p:nvPr/>
        </p:nvSpPr>
        <p:spPr>
          <a:xfrm>
            <a:off x="8245001" y="3170080"/>
            <a:ext cx="3285303" cy="1239845"/>
          </a:xfrm>
          <a:prstGeom prst="roundRect">
            <a:avLst/>
          </a:prstGeom>
          <a:solidFill>
            <a:srgbClr val="00A0B0"/>
          </a:solidFill>
        </p:spPr>
      </p:sp>
      <p:sp>
        <p:nvSpPr>
          <p:cNvPr id="10" name="Object 9"/>
          <p:cNvSpPr/>
          <p:nvPr/>
        </p:nvSpPr>
        <p:spPr>
          <a:xfrm>
            <a:off x="8801760" y="3400527"/>
            <a:ext cx="2171705" cy="7884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ts val="2070"/>
              </a:lnSpc>
              <a:buNone/>
            </a:pPr>
            <a:r>
              <a:rPr lang="en-US" sz="1620" kern="0" spc="17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AUTOMATION &amp; INSTRUMENTATION COMPANIES     </a:t>
            </a:r>
            <a:endParaRPr lang="en-US" dirty="0"/>
          </a:p>
        </p:txBody>
      </p:sp>
      <p:sp>
        <p:nvSpPr>
          <p:cNvPr id="11" name="Object 10"/>
          <p:cNvSpPr/>
          <p:nvPr/>
        </p:nvSpPr>
        <p:spPr>
          <a:xfrm>
            <a:off x="8062484" y="4621644"/>
            <a:ext cx="3650337" cy="1377606"/>
          </a:xfrm>
          <a:prstGeom prst="rect">
            <a:avLst/>
          </a:prstGeom>
          <a:solidFill>
            <a:srgbClr val="E6F6F7"/>
          </a:solidFill>
        </p:spPr>
      </p:sp>
      <p:sp>
        <p:nvSpPr>
          <p:cNvPr id="12" name="Object 11"/>
          <p:cNvSpPr/>
          <p:nvPr/>
        </p:nvSpPr>
        <p:spPr>
          <a:xfrm>
            <a:off x="8245001" y="4690525"/>
            <a:ext cx="3285303" cy="1239845"/>
          </a:xfrm>
          <a:prstGeom prst="roundRect">
            <a:avLst/>
          </a:prstGeom>
          <a:solidFill>
            <a:srgbClr val="00A0B0"/>
          </a:solidFill>
        </p:spPr>
      </p:sp>
      <p:sp>
        <p:nvSpPr>
          <p:cNvPr id="13" name="Object 12"/>
          <p:cNvSpPr/>
          <p:nvPr/>
        </p:nvSpPr>
        <p:spPr>
          <a:xfrm>
            <a:off x="8588767" y="4906450"/>
            <a:ext cx="2597770" cy="8113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ts val="3195"/>
              </a:lnSpc>
              <a:buNone/>
            </a:pPr>
            <a:r>
              <a:rPr lang="en-US" sz="281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Manufacturing industries  </a:t>
            </a:r>
            <a:endParaRPr lang="en-US" dirty="0"/>
          </a:p>
        </p:txBody>
      </p:sp>
      <p:sp>
        <p:nvSpPr>
          <p:cNvPr id="14" name="Object 13"/>
          <p:cNvSpPr/>
          <p:nvPr/>
        </p:nvSpPr>
        <p:spPr>
          <a:xfrm>
            <a:off x="11865183" y="6498116"/>
            <a:ext cx="133317" cy="243303"/>
          </a:xfrm>
          <a:prstGeom prst="rect">
            <a:avLst/>
          </a:prstGeom>
          <a:noFill/>
        </p:spPr>
      </p:sp>
      <p:sp>
        <p:nvSpPr>
          <p:cNvPr id="25" name="Slide Number Placeholder 24"/>
          <p:cNvSpPr>
            <a:spLocks noGrp="1"/>
          </p:cNvSpPr>
          <p:nvPr>
            <p:ph type="sldNum" sz="quarter" idx="4294967295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/>
            </a:lvl1pPr>
          </a:lstStyle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6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476131" y="476131"/>
            <a:ext cx="3371007" cy="5904024"/>
          </a:xfrm>
          <a:prstGeom prst="rect">
            <a:avLst/>
          </a:prstGeom>
          <a:solidFill>
            <a:srgbClr val="00A0B0"/>
          </a:solidFill>
        </p:spPr>
      </p:sp>
      <p:sp>
        <p:nvSpPr>
          <p:cNvPr id="3" name="Object 2"/>
          <p:cNvSpPr/>
          <p:nvPr/>
        </p:nvSpPr>
        <p:spPr>
          <a:xfrm>
            <a:off x="644681" y="771332"/>
            <a:ext cx="3033906" cy="5313621"/>
          </a:xfrm>
          <a:prstGeom prst="roundRect">
            <a:avLst/>
          </a:prstGeom>
          <a:solidFill>
            <a:srgbClr val="00A0B0"/>
          </a:solidFill>
        </p:spPr>
      </p:sp>
      <p:pic>
        <p:nvPicPr>
          <p:cNvPr id="4" name="Object 3" descr="digital twin manufacturing, center view"/>
          <p:cNvPicPr>
            <a:picLocks noChangeAspect="1"/>
          </p:cNvPicPr>
          <p:nvPr/>
        </p:nvPicPr>
        <p:blipFill>
          <a:blip r:embed="rId3"/>
          <a:srcRect l="34144" r="34144"/>
          <a:stretch/>
        </p:blipFill>
        <p:spPr>
          <a:xfrm>
            <a:off x="644681" y="771332"/>
            <a:ext cx="3033906" cy="5313621"/>
          </a:xfrm>
          <a:prstGeom prst="rect">
            <a:avLst/>
          </a:prstGeom>
        </p:spPr>
      </p:pic>
      <p:sp>
        <p:nvSpPr>
          <p:cNvPr id="5" name="Object 4"/>
          <p:cNvSpPr/>
          <p:nvPr/>
        </p:nvSpPr>
        <p:spPr>
          <a:xfrm>
            <a:off x="5066485" y="2019747"/>
            <a:ext cx="5903119" cy="10817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ts val="4260"/>
              </a:lnSpc>
              <a:buNone/>
            </a:pPr>
            <a:r>
              <a:rPr lang="en-US" sz="3750" b="1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Twin - Digital Twin for Industrial Monitoring</a:t>
            </a:r>
            <a:endParaRPr lang="en-US" dirty="0"/>
          </a:p>
        </p:txBody>
      </p:sp>
      <p:sp>
        <p:nvSpPr>
          <p:cNvPr id="6" name="Object 5"/>
          <p:cNvSpPr/>
          <p:nvPr/>
        </p:nvSpPr>
        <p:spPr>
          <a:xfrm>
            <a:off x="4027115" y="3200909"/>
            <a:ext cx="7981859" cy="16224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ts val="2556"/>
              </a:lnSpc>
              <a:spcBef>
                <a:spcPts val="767"/>
              </a:spcBef>
              <a:buNone/>
            </a:pPr>
            <a:r>
              <a:rPr lang="en-US" sz="1800" kern="0" spc="18" dirty="0">
                <a:solidFill>
                  <a:srgbClr val="9E3232">
                    <a:alpha val="6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Innovation: SmartTwin 360, a is a real-time digital twin platform that auto-generates a 3D replica of a manufacturing unit, streams real-time IoT sensor data, uses AI-based anomaly detection, and offers predictive maintenance insights through a clean, intuitive dashboard accessible on the web.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6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381857"/>
            <a:ext cx="12188952" cy="5408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260"/>
              </a:lnSpc>
              <a:buNone/>
            </a:pPr>
            <a:r>
              <a:rPr lang="en-US" sz="3750" b="1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Features of Smart Twin</a:t>
            </a:r>
            <a:endParaRPr lang="en-US" dirty="0"/>
          </a:p>
        </p:txBody>
      </p:sp>
      <p:sp>
        <p:nvSpPr>
          <p:cNvPr id="3" name="Object 2"/>
          <p:cNvSpPr/>
          <p:nvPr/>
        </p:nvSpPr>
        <p:spPr>
          <a:xfrm>
            <a:off x="476131" y="1580755"/>
            <a:ext cx="5523119" cy="2114021"/>
          </a:xfrm>
          <a:prstGeom prst="rect">
            <a:avLst/>
          </a:prstGeom>
          <a:solidFill>
            <a:srgbClr val="00A0B0"/>
          </a:solidFill>
        </p:spPr>
      </p:sp>
      <p:sp>
        <p:nvSpPr>
          <p:cNvPr id="4" name="Object 3"/>
          <p:cNvSpPr/>
          <p:nvPr/>
        </p:nvSpPr>
        <p:spPr>
          <a:xfrm>
            <a:off x="761810" y="1809893"/>
            <a:ext cx="5551687" cy="2688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118"/>
              </a:lnSpc>
              <a:buNone/>
            </a:pPr>
            <a:r>
              <a:rPr lang="en-US" sz="1658" b="1" kern="0" spc="17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Data Integration</a:t>
            </a:r>
            <a:endParaRPr lang="en-US" dirty="0"/>
          </a:p>
        </p:txBody>
      </p:sp>
      <p:sp>
        <p:nvSpPr>
          <p:cNvPr id="5" name="Object 4"/>
          <p:cNvSpPr/>
          <p:nvPr/>
        </p:nvSpPr>
        <p:spPr>
          <a:xfrm>
            <a:off x="761811" y="2148898"/>
            <a:ext cx="5003990" cy="6592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730"/>
              </a:lnSpc>
              <a:spcBef>
                <a:spcPts val="541"/>
              </a:spcBef>
              <a:buNone/>
            </a:pPr>
            <a:r>
              <a:rPr lang="en-US" sz="1219" kern="0" spc="12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Twins integrate real-time data from various sensors, control systems, and other data sources to create a comprehensive digital representation of the physical asset or system.</a:t>
            </a:r>
            <a:endParaRPr lang="en-US" dirty="0"/>
          </a:p>
        </p:txBody>
      </p:sp>
      <p:sp>
        <p:nvSpPr>
          <p:cNvPr id="6" name="Object 5"/>
          <p:cNvSpPr/>
          <p:nvPr/>
        </p:nvSpPr>
        <p:spPr>
          <a:xfrm>
            <a:off x="6189702" y="1580755"/>
            <a:ext cx="5523119" cy="2114021"/>
          </a:xfrm>
          <a:prstGeom prst="rect">
            <a:avLst/>
          </a:prstGeom>
          <a:solidFill>
            <a:srgbClr val="20ACBA"/>
          </a:solidFill>
        </p:spPr>
      </p:sp>
      <p:sp>
        <p:nvSpPr>
          <p:cNvPr id="7" name="Object 6"/>
          <p:cNvSpPr/>
          <p:nvPr/>
        </p:nvSpPr>
        <p:spPr>
          <a:xfrm>
            <a:off x="6475381" y="1809893"/>
            <a:ext cx="5551687" cy="2688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118"/>
              </a:lnSpc>
              <a:buNone/>
            </a:pPr>
            <a:r>
              <a:rPr lang="en-US" sz="1658" b="1" kern="0" spc="17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Predictive Analytics</a:t>
            </a:r>
            <a:endParaRPr lang="en-US" dirty="0"/>
          </a:p>
        </p:txBody>
      </p:sp>
      <p:sp>
        <p:nvSpPr>
          <p:cNvPr id="8" name="Object 7"/>
          <p:cNvSpPr/>
          <p:nvPr/>
        </p:nvSpPr>
        <p:spPr>
          <a:xfrm>
            <a:off x="6475381" y="2148898"/>
            <a:ext cx="5132419" cy="6592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730"/>
              </a:lnSpc>
              <a:spcBef>
                <a:spcPts val="541"/>
              </a:spcBef>
              <a:buNone/>
            </a:pPr>
            <a:r>
              <a:rPr lang="en-US" sz="1219" kern="0" spc="12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Twins leverage advanced analytics and machine learning algorithms to predict equipment failures, optimize maintenance schedules, and forecast production output.</a:t>
            </a:r>
            <a:endParaRPr lang="en-US" dirty="0"/>
          </a:p>
        </p:txBody>
      </p:sp>
      <p:sp>
        <p:nvSpPr>
          <p:cNvPr id="9" name="Object 8"/>
          <p:cNvSpPr/>
          <p:nvPr/>
        </p:nvSpPr>
        <p:spPr>
          <a:xfrm>
            <a:off x="476131" y="3885228"/>
            <a:ext cx="3618595" cy="2114021"/>
          </a:xfrm>
          <a:prstGeom prst="rect">
            <a:avLst/>
          </a:prstGeom>
          <a:solidFill>
            <a:srgbClr val="40B8C4"/>
          </a:solidFill>
        </p:spPr>
      </p:sp>
      <p:sp>
        <p:nvSpPr>
          <p:cNvPr id="10" name="Object 9"/>
          <p:cNvSpPr/>
          <p:nvPr/>
        </p:nvSpPr>
        <p:spPr>
          <a:xfrm>
            <a:off x="761810" y="4114366"/>
            <a:ext cx="3456711" cy="2688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118"/>
              </a:lnSpc>
              <a:buNone/>
            </a:pPr>
            <a:r>
              <a:rPr lang="en-US" sz="1658" b="1" kern="0" spc="17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 Optimization</a:t>
            </a:r>
            <a:endParaRPr lang="en-US" dirty="0"/>
          </a:p>
        </p:txBody>
      </p:sp>
      <p:sp>
        <p:nvSpPr>
          <p:cNvPr id="11" name="Object 10"/>
          <p:cNvSpPr/>
          <p:nvPr/>
        </p:nvSpPr>
        <p:spPr>
          <a:xfrm>
            <a:off x="761810" y="4453372"/>
            <a:ext cx="3456711" cy="10986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730"/>
              </a:lnSpc>
              <a:spcBef>
                <a:spcPts val="541"/>
              </a:spcBef>
              <a:buNone/>
            </a:pPr>
            <a:r>
              <a:rPr lang="en-US" sz="1219" kern="0" spc="12" dirty="0">
                <a:solidFill>
                  <a:srgbClr val="9E3232">
                    <a:alpha val="6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Twins provide the ability to simulate and optimize industrial processes, enabling operators to make informed decisions that improve efficiency, quality, and overall performance.</a:t>
            </a:r>
            <a:endParaRPr lang="en-US" dirty="0"/>
          </a:p>
        </p:txBody>
      </p:sp>
      <p:sp>
        <p:nvSpPr>
          <p:cNvPr id="12" name="Object 11"/>
          <p:cNvSpPr/>
          <p:nvPr/>
        </p:nvSpPr>
        <p:spPr>
          <a:xfrm>
            <a:off x="4285178" y="3885228"/>
            <a:ext cx="3618595" cy="2114021"/>
          </a:xfrm>
          <a:prstGeom prst="rect">
            <a:avLst/>
          </a:prstGeom>
          <a:solidFill>
            <a:srgbClr val="60C4CE"/>
          </a:solidFill>
        </p:spPr>
      </p:sp>
      <p:sp>
        <p:nvSpPr>
          <p:cNvPr id="13" name="Object 12"/>
          <p:cNvSpPr/>
          <p:nvPr/>
        </p:nvSpPr>
        <p:spPr>
          <a:xfrm>
            <a:off x="4570857" y="4114366"/>
            <a:ext cx="3456711" cy="2688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118"/>
              </a:lnSpc>
              <a:buNone/>
            </a:pPr>
            <a:r>
              <a:rPr lang="en-US" sz="1658" b="1" kern="0" spc="17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Monitoring</a:t>
            </a:r>
            <a:endParaRPr lang="en-US" dirty="0"/>
          </a:p>
        </p:txBody>
      </p:sp>
      <p:sp>
        <p:nvSpPr>
          <p:cNvPr id="14" name="Object 13"/>
          <p:cNvSpPr/>
          <p:nvPr/>
        </p:nvSpPr>
        <p:spPr>
          <a:xfrm>
            <a:off x="4570857" y="4453372"/>
            <a:ext cx="3456711" cy="10986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730"/>
              </a:lnSpc>
              <a:spcBef>
                <a:spcPts val="541"/>
              </a:spcBef>
              <a:buNone/>
            </a:pPr>
            <a:r>
              <a:rPr lang="en-US" sz="1219" kern="0" spc="12" dirty="0">
                <a:solidFill>
                  <a:srgbClr val="9E3232">
                    <a:alpha val="6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Twins continuously monitor the performance of the physical asset or system, providing real-time alerts and notifications to help operators identify and address issues before they escalate.</a:t>
            </a:r>
            <a:endParaRPr lang="en-US" dirty="0"/>
          </a:p>
        </p:txBody>
      </p:sp>
      <p:sp>
        <p:nvSpPr>
          <p:cNvPr id="15" name="Object 14"/>
          <p:cNvSpPr/>
          <p:nvPr/>
        </p:nvSpPr>
        <p:spPr>
          <a:xfrm>
            <a:off x="8094226" y="3885228"/>
            <a:ext cx="3618595" cy="2114021"/>
          </a:xfrm>
          <a:prstGeom prst="rect">
            <a:avLst/>
          </a:prstGeom>
          <a:solidFill>
            <a:srgbClr val="80D0D8"/>
          </a:solidFill>
        </p:spPr>
      </p:sp>
      <p:sp>
        <p:nvSpPr>
          <p:cNvPr id="16" name="Object 15"/>
          <p:cNvSpPr/>
          <p:nvPr/>
        </p:nvSpPr>
        <p:spPr>
          <a:xfrm>
            <a:off x="8379905" y="4114366"/>
            <a:ext cx="3456711" cy="2688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118"/>
              </a:lnSpc>
              <a:buNone/>
            </a:pPr>
            <a:r>
              <a:rPr lang="en-US" sz="1658" b="1" kern="0" spc="17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Scenario Modeling</a:t>
            </a:r>
            <a:endParaRPr lang="en-US" dirty="0"/>
          </a:p>
        </p:txBody>
      </p:sp>
      <p:sp>
        <p:nvSpPr>
          <p:cNvPr id="17" name="Object 16"/>
          <p:cNvSpPr/>
          <p:nvPr/>
        </p:nvSpPr>
        <p:spPr>
          <a:xfrm>
            <a:off x="8379905" y="4453372"/>
            <a:ext cx="3456711" cy="10986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730"/>
              </a:lnSpc>
              <a:spcBef>
                <a:spcPts val="541"/>
              </a:spcBef>
              <a:buNone/>
            </a:pPr>
            <a:r>
              <a:rPr lang="en-US" sz="1219" kern="0" spc="12" dirty="0">
                <a:solidFill>
                  <a:srgbClr val="9E3232">
                    <a:alpha val="6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Twins allow users to model and simulate different scenarios, enabling them to evaluate the impact of changes and make informed decisions before implementing them in the physical world.</a:t>
            </a:r>
            <a:endParaRPr lang="en-US" dirty="0"/>
          </a:p>
        </p:txBody>
      </p:sp>
      <p:sp>
        <p:nvSpPr>
          <p:cNvPr id="18" name="Object 17"/>
          <p:cNvSpPr/>
          <p:nvPr/>
        </p:nvSpPr>
        <p:spPr>
          <a:xfrm>
            <a:off x="11865183" y="6498116"/>
            <a:ext cx="133317" cy="243303"/>
          </a:xfrm>
          <a:prstGeom prst="rect">
            <a:avLst/>
          </a:prstGeom>
          <a:noFill/>
        </p:spPr>
      </p:sp>
      <p:sp>
        <p:nvSpPr>
          <p:cNvPr id="25" name="Slide Number Placeholder 24"/>
          <p:cNvSpPr>
            <a:spLocks noGrp="1"/>
          </p:cNvSpPr>
          <p:nvPr>
            <p:ph type="sldNum" sz="quarter" idx="4294967295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/>
            </a:lvl1pPr>
          </a:lstStyle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381857"/>
            <a:ext cx="12188952" cy="5408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26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Benefits of Smart Twin</a:t>
            </a:r>
            <a:endParaRPr lang="en-US" dirty="0"/>
          </a:p>
        </p:txBody>
      </p:sp>
      <p:sp>
        <p:nvSpPr>
          <p:cNvPr id="3" name="Object 2"/>
          <p:cNvSpPr/>
          <p:nvPr/>
        </p:nvSpPr>
        <p:spPr>
          <a:xfrm>
            <a:off x="952262" y="1936186"/>
            <a:ext cx="3491540" cy="3376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42900" indent="-242900" algn="l">
              <a:lnSpc>
                <a:spcPts val="3451"/>
              </a:lnSpc>
              <a:buSzPct val="100000"/>
              <a:buChar char="•"/>
            </a:pPr>
            <a:r>
              <a:rPr lang="en-US" sz="2700" kern="0" spc="27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Improved Efficiency</a:t>
            </a:r>
          </a:p>
          <a:p>
            <a:pPr lvl="1" algn="l">
              <a:lnSpc>
                <a:spcPts val="2449"/>
              </a:lnSpc>
              <a:spcBef>
                <a:spcPts val="104"/>
              </a:spcBef>
              <a:buNone/>
            </a:pPr>
            <a:r>
              <a:rPr lang="en-US" sz="1725" kern="0" spc="17" dirty="0">
                <a:solidFill>
                  <a:srgbClr val="97AA0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Twin technology enables real-time monitoring and optimization of industrial processes, leading to more efficient utilization of resources, energy, and production workflows.</a:t>
            </a:r>
            <a:endParaRPr lang="en-US" dirty="0"/>
          </a:p>
        </p:txBody>
      </p:sp>
      <p:sp>
        <p:nvSpPr>
          <p:cNvPr id="4" name="Object 3"/>
          <p:cNvSpPr/>
          <p:nvPr/>
        </p:nvSpPr>
        <p:spPr>
          <a:xfrm>
            <a:off x="4507373" y="1936186"/>
            <a:ext cx="3491540" cy="36877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42900" indent="-242900" algn="l">
              <a:lnSpc>
                <a:spcPts val="3451"/>
              </a:lnSpc>
              <a:buSzPct val="100000"/>
              <a:buChar char="•"/>
            </a:pPr>
            <a:r>
              <a:rPr lang="en-US" sz="2700" kern="0" spc="27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Reduced Downtime</a:t>
            </a:r>
          </a:p>
          <a:p>
            <a:pPr lvl="1" algn="l">
              <a:lnSpc>
                <a:spcPts val="2449"/>
              </a:lnSpc>
              <a:spcBef>
                <a:spcPts val="104"/>
              </a:spcBef>
              <a:buNone/>
            </a:pPr>
            <a:r>
              <a:rPr lang="en-US" sz="1725" kern="0" spc="17" dirty="0">
                <a:solidFill>
                  <a:srgbClr val="97AA0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leveraging predictive analytics, Smart Twin can anticipate equipment failures and enable proactive maintenance, significantly reducing unplanned downtime and improving overall equipment effectiveness.</a:t>
            </a:r>
            <a:endParaRPr lang="en-US" dirty="0"/>
          </a:p>
        </p:txBody>
      </p:sp>
      <p:sp>
        <p:nvSpPr>
          <p:cNvPr id="5" name="Object 4"/>
          <p:cNvSpPr/>
          <p:nvPr/>
        </p:nvSpPr>
        <p:spPr>
          <a:xfrm>
            <a:off x="8062484" y="1936186"/>
            <a:ext cx="3491540" cy="36877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42900" indent="-242900" algn="l">
              <a:lnSpc>
                <a:spcPts val="3451"/>
              </a:lnSpc>
              <a:buSzPct val="100000"/>
              <a:buChar char="•"/>
            </a:pPr>
            <a:r>
              <a:rPr lang="en-US" sz="2700" kern="0" spc="27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Optimized Asset Performance</a:t>
            </a:r>
          </a:p>
          <a:p>
            <a:pPr lvl="1" algn="l">
              <a:lnSpc>
                <a:spcPts val="2449"/>
              </a:lnSpc>
              <a:spcBef>
                <a:spcPts val="104"/>
              </a:spcBef>
              <a:buNone/>
            </a:pPr>
            <a:r>
              <a:rPr lang="en-US" sz="1725" kern="0" spc="17" dirty="0">
                <a:solidFill>
                  <a:srgbClr val="97AA0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comprehensive digital representation of physical assets provided by Smart Twin allows for continuous optimization, ensuring that equipment and systems operate at their maximum potential, enhancing productivity and output.</a:t>
            </a:r>
            <a:endParaRPr lang="en-US" dirty="0"/>
          </a:p>
        </p:txBody>
      </p:sp>
      <p:sp>
        <p:nvSpPr>
          <p:cNvPr id="6" name="Object 5"/>
          <p:cNvSpPr/>
          <p:nvPr/>
        </p:nvSpPr>
        <p:spPr>
          <a:xfrm>
            <a:off x="11865183" y="6498116"/>
            <a:ext cx="133317" cy="243303"/>
          </a:xfrm>
          <a:prstGeom prst="rect">
            <a:avLst/>
          </a:prstGeom>
          <a:noFill/>
        </p:spPr>
      </p:sp>
      <p:sp>
        <p:nvSpPr>
          <p:cNvPr id="25" name="Slide Number Placeholder 24"/>
          <p:cNvSpPr>
            <a:spLocks noGrp="1"/>
          </p:cNvSpPr>
          <p:nvPr>
            <p:ph type="sldNum" sz="quarter" idx="4294967295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/>
            </a:lvl1pPr>
          </a:lstStyle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381857"/>
            <a:ext cx="12188952" cy="5408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260"/>
              </a:lnSpc>
              <a:buNone/>
            </a:pPr>
            <a:r>
              <a:rPr lang="en-US" sz="3750" b="1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Twin Tech Architecture</a:t>
            </a:r>
            <a:endParaRPr lang="en-US" dirty="0"/>
          </a:p>
        </p:txBody>
      </p:sp>
      <p:pic>
        <p:nvPicPr>
          <p:cNvPr id="3" name="Object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131" y="1733117"/>
            <a:ext cx="2037840" cy="1190327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598342" y="2080811"/>
            <a:ext cx="1501312" cy="4963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955"/>
              </a:lnSpc>
              <a:buNone/>
            </a:pPr>
            <a:r>
              <a:rPr lang="en-US" sz="1530" kern="0" spc="15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Integration</a:t>
            </a:r>
            <a:endParaRPr lang="en-US" dirty="0"/>
          </a:p>
        </p:txBody>
      </p:sp>
      <p:sp>
        <p:nvSpPr>
          <p:cNvPr id="5" name="Object 4"/>
          <p:cNvSpPr/>
          <p:nvPr/>
        </p:nvSpPr>
        <p:spPr>
          <a:xfrm>
            <a:off x="761810" y="3062117"/>
            <a:ext cx="1501312" cy="3027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704"/>
              </a:lnSpc>
              <a:buNone/>
            </a:pPr>
            <a:r>
              <a:rPr lang="en-US" sz="1200" b="1" kern="0" spc="12" dirty="0">
                <a:solidFill>
                  <a:srgbClr val="9E3232">
                    <a:alpha val="6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Twin integrates real-time data from various sensors and devices, as well as historical data from enterprise systems, to create a comprehensive digital representation of the physical asset or system.</a:t>
            </a:r>
            <a:endParaRPr lang="en-US" dirty="0"/>
          </a:p>
        </p:txBody>
      </p:sp>
      <p:pic>
        <p:nvPicPr>
          <p:cNvPr id="6" name="Object 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17101" y="1733117"/>
            <a:ext cx="2037840" cy="1190327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2739344" y="2080811"/>
            <a:ext cx="1187066" cy="4963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955"/>
              </a:lnSpc>
              <a:buNone/>
            </a:pPr>
            <a:r>
              <a:rPr lang="en-US" sz="1530" kern="0" spc="15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Analytics Engine</a:t>
            </a:r>
            <a:endParaRPr lang="en-US" dirty="0"/>
          </a:p>
        </p:txBody>
      </p:sp>
      <p:sp>
        <p:nvSpPr>
          <p:cNvPr id="8" name="Object 7"/>
          <p:cNvSpPr/>
          <p:nvPr/>
        </p:nvSpPr>
        <p:spPr>
          <a:xfrm>
            <a:off x="2602849" y="3062117"/>
            <a:ext cx="1501312" cy="3027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704"/>
              </a:lnSpc>
              <a:buNone/>
            </a:pPr>
            <a:r>
              <a:rPr lang="en-US" sz="1200" b="1" kern="0" spc="12" dirty="0">
                <a:solidFill>
                  <a:srgbClr val="9E3232">
                    <a:alpha val="6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Smart Twin platform employs advanced analytics algorithms, including machine learning and artificial intelligence, to process the integrated data and generate insights, predictions, and optimization recommendations.</a:t>
            </a:r>
            <a:endParaRPr lang="en-US" dirty="0"/>
          </a:p>
        </p:txBody>
      </p:sp>
      <p:pic>
        <p:nvPicPr>
          <p:cNvPr id="9" name="Object 8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58171" y="1733117"/>
            <a:ext cx="2037840" cy="1190327"/>
          </a:xfrm>
          <a:prstGeom prst="rect">
            <a:avLst/>
          </a:prstGeom>
        </p:spPr>
      </p:pic>
      <p:sp>
        <p:nvSpPr>
          <p:cNvPr id="10" name="Object 9"/>
          <p:cNvSpPr/>
          <p:nvPr/>
        </p:nvSpPr>
        <p:spPr>
          <a:xfrm>
            <a:off x="4580384" y="1957017"/>
            <a:ext cx="1187066" cy="744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955"/>
              </a:lnSpc>
              <a:buNone/>
            </a:pPr>
            <a:r>
              <a:rPr lang="en-US" sz="1530" kern="0" spc="15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Simulation and Modeling</a:t>
            </a:r>
            <a:endParaRPr lang="en-US" dirty="0"/>
          </a:p>
        </p:txBody>
      </p:sp>
      <p:sp>
        <p:nvSpPr>
          <p:cNvPr id="11" name="Object 10"/>
          <p:cNvSpPr/>
          <p:nvPr/>
        </p:nvSpPr>
        <p:spPr>
          <a:xfrm>
            <a:off x="4443889" y="3062117"/>
            <a:ext cx="1501312" cy="23791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704"/>
              </a:lnSpc>
              <a:buNone/>
            </a:pPr>
            <a:r>
              <a:rPr lang="en-US" sz="1200" b="1" kern="0" spc="12" dirty="0">
                <a:solidFill>
                  <a:srgbClr val="9E3232">
                    <a:alpha val="6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digital twin model can be used to simulate various scenarios, test hypotheses, and optimize the performance of the physical asset or system without disrupting operations.</a:t>
            </a:r>
            <a:endParaRPr lang="en-US" dirty="0"/>
          </a:p>
        </p:txBody>
      </p:sp>
      <p:pic>
        <p:nvPicPr>
          <p:cNvPr id="12" name="Object 11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99250" y="1733117"/>
            <a:ext cx="2037840" cy="1190327"/>
          </a:xfrm>
          <a:prstGeom prst="rect">
            <a:avLst/>
          </a:prstGeom>
        </p:spPr>
      </p:pic>
      <p:sp>
        <p:nvSpPr>
          <p:cNvPr id="13" name="Object 12"/>
          <p:cNvSpPr/>
          <p:nvPr/>
        </p:nvSpPr>
        <p:spPr>
          <a:xfrm>
            <a:off x="6421423" y="1957017"/>
            <a:ext cx="1187066" cy="744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955"/>
              </a:lnSpc>
              <a:buNone/>
            </a:pPr>
            <a:r>
              <a:rPr lang="en-US" sz="1530" kern="0" spc="15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Visualization and Dashboards</a:t>
            </a:r>
            <a:endParaRPr lang="en-US" dirty="0"/>
          </a:p>
        </p:txBody>
      </p:sp>
      <p:sp>
        <p:nvSpPr>
          <p:cNvPr id="14" name="Object 13"/>
          <p:cNvSpPr/>
          <p:nvPr/>
        </p:nvSpPr>
        <p:spPr>
          <a:xfrm>
            <a:off x="6284928" y="3062117"/>
            <a:ext cx="1501312" cy="23791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704"/>
              </a:lnSpc>
              <a:buNone/>
            </a:pPr>
            <a:r>
              <a:rPr lang="en-US" sz="1200" b="1" kern="0" spc="12" dirty="0">
                <a:solidFill>
                  <a:srgbClr val="9E3232">
                    <a:alpha val="6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Twin provides intuitive dashboards and visualizations that allow users to interact with the digital twin, monitor real-time performance, and make data-driven decisions.</a:t>
            </a:r>
            <a:endParaRPr lang="en-US" dirty="0"/>
          </a:p>
        </p:txBody>
      </p:sp>
      <p:pic>
        <p:nvPicPr>
          <p:cNvPr id="15" name="Object 14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40220" y="1733117"/>
            <a:ext cx="2037840" cy="1190327"/>
          </a:xfrm>
          <a:prstGeom prst="rect">
            <a:avLst/>
          </a:prstGeom>
        </p:spPr>
      </p:pic>
      <p:sp>
        <p:nvSpPr>
          <p:cNvPr id="16" name="Object 15"/>
          <p:cNvSpPr/>
          <p:nvPr/>
        </p:nvSpPr>
        <p:spPr>
          <a:xfrm>
            <a:off x="8262463" y="1957017"/>
            <a:ext cx="1187066" cy="744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955"/>
              </a:lnSpc>
              <a:buNone/>
            </a:pPr>
            <a:r>
              <a:rPr lang="en-US" sz="1530" kern="0" spc="15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Connectivity and Integration</a:t>
            </a:r>
            <a:endParaRPr lang="en-US" dirty="0"/>
          </a:p>
        </p:txBody>
      </p:sp>
      <p:sp>
        <p:nvSpPr>
          <p:cNvPr id="17" name="Object 16"/>
          <p:cNvSpPr/>
          <p:nvPr/>
        </p:nvSpPr>
        <p:spPr>
          <a:xfrm>
            <a:off x="8125968" y="3062117"/>
            <a:ext cx="1501312" cy="25953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704"/>
              </a:lnSpc>
              <a:buNone/>
            </a:pPr>
            <a:r>
              <a:rPr lang="en-US" sz="1200" b="1" kern="0" spc="12" dirty="0">
                <a:solidFill>
                  <a:srgbClr val="9E3232">
                    <a:alpha val="6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Twin seamlessly integrates with existing enterprise systems, such as ERP, SCADA, and MES, to ensure a holistic view of the industrial ecosystem and enable informed decision-making.</a:t>
            </a:r>
            <a:endParaRPr lang="en-US" dirty="0"/>
          </a:p>
        </p:txBody>
      </p:sp>
      <p:pic>
        <p:nvPicPr>
          <p:cNvPr id="18" name="Object 17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681290" y="1733117"/>
            <a:ext cx="2037840" cy="1190327"/>
          </a:xfrm>
          <a:prstGeom prst="rect">
            <a:avLst/>
          </a:prstGeom>
        </p:spPr>
      </p:pic>
      <p:sp>
        <p:nvSpPr>
          <p:cNvPr id="19" name="Object 18"/>
          <p:cNvSpPr/>
          <p:nvPr/>
        </p:nvSpPr>
        <p:spPr>
          <a:xfrm>
            <a:off x="10103502" y="1957017"/>
            <a:ext cx="1187066" cy="744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1955"/>
              </a:lnSpc>
              <a:buNone/>
            </a:pPr>
            <a:r>
              <a:rPr lang="en-US" sz="1530" kern="0" spc="15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Edge Computing and IoT</a:t>
            </a:r>
            <a:endParaRPr lang="en-US" dirty="0"/>
          </a:p>
        </p:txBody>
      </p:sp>
      <p:sp>
        <p:nvSpPr>
          <p:cNvPr id="20" name="Object 19"/>
          <p:cNvSpPr/>
          <p:nvPr/>
        </p:nvSpPr>
        <p:spPr>
          <a:xfrm>
            <a:off x="9967008" y="3062117"/>
            <a:ext cx="1501312" cy="25953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1704"/>
              </a:lnSpc>
              <a:buNone/>
            </a:pPr>
            <a:r>
              <a:rPr lang="en-US" sz="1200" b="1" kern="0" spc="12" dirty="0">
                <a:solidFill>
                  <a:srgbClr val="9E3232">
                    <a:alpha val="6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Twin leverages edge computing and the Internet of Things (IoT) to collect, process, and transmit data from the physical asset or system, enabling real-time monitoring and response.</a:t>
            </a:r>
            <a:endParaRPr lang="en-US" dirty="0"/>
          </a:p>
        </p:txBody>
      </p:sp>
      <p:sp>
        <p:nvSpPr>
          <p:cNvPr id="21" name="Object 20"/>
          <p:cNvSpPr/>
          <p:nvPr/>
        </p:nvSpPr>
        <p:spPr>
          <a:xfrm>
            <a:off x="11865183" y="6498116"/>
            <a:ext cx="133317" cy="243303"/>
          </a:xfrm>
          <a:prstGeom prst="rect">
            <a:avLst/>
          </a:prstGeom>
          <a:noFill/>
        </p:spPr>
      </p:sp>
      <p:sp>
        <p:nvSpPr>
          <p:cNvPr id="25" name="Slide Number Placeholder 24"/>
          <p:cNvSpPr>
            <a:spLocks noGrp="1"/>
          </p:cNvSpPr>
          <p:nvPr>
            <p:ph type="sldNum" sz="quarter" idx="4294967295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/>
            </a:lvl1pPr>
          </a:lstStyle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6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381857"/>
            <a:ext cx="12188952" cy="5408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260"/>
              </a:lnSpc>
              <a:buNone/>
            </a:pPr>
            <a:r>
              <a:rPr lang="en-US" sz="3750" b="1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Business Model</a:t>
            </a:r>
            <a:endParaRPr lang="en-US" dirty="0"/>
          </a:p>
        </p:txBody>
      </p:sp>
      <p:pic>
        <p:nvPicPr>
          <p:cNvPr id="3" name="Object 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2714" y="1866433"/>
            <a:ext cx="8160884" cy="895126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1333167" y="2173300"/>
            <a:ext cx="7919010" cy="2725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ts val="2147"/>
              </a:lnSpc>
              <a:buNone/>
            </a:pPr>
            <a:r>
              <a:rPr lang="en-US" sz="1680" b="1" kern="0" spc="1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Subscription Model</a:t>
            </a:r>
            <a:r>
              <a:rPr lang="en-US" sz="1680" kern="0" spc="1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Pay-per-machine monitoring     </a:t>
            </a:r>
            <a:endParaRPr lang="en-US" dirty="0"/>
          </a:p>
        </p:txBody>
      </p:sp>
      <p:pic>
        <p:nvPicPr>
          <p:cNvPr id="5" name="Object 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1384303"/>
            <a:ext cx="1142714" cy="1285554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2714" y="2852025"/>
            <a:ext cx="10570107" cy="895126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333167" y="3158891"/>
            <a:ext cx="10570107" cy="2725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ts val="2147"/>
              </a:lnSpc>
              <a:buNone/>
            </a:pPr>
            <a:r>
              <a:rPr lang="en-US" sz="1680" b="1" kern="0" spc="1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Licensing</a:t>
            </a:r>
            <a:r>
              <a:rPr lang="en-US" sz="1680" kern="0" spc="1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Digital twin generation API     </a:t>
            </a:r>
            <a:endParaRPr lang="en-US" dirty="0"/>
          </a:p>
        </p:txBody>
      </p:sp>
      <p:pic>
        <p:nvPicPr>
          <p:cNvPr id="8" name="Object 7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2681093"/>
            <a:ext cx="1142714" cy="971307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42714" y="3837615"/>
            <a:ext cx="6427768" cy="895126"/>
          </a:xfrm>
          <a:prstGeom prst="rect">
            <a:avLst/>
          </a:prstGeom>
        </p:spPr>
      </p:pic>
      <p:sp>
        <p:nvSpPr>
          <p:cNvPr id="10" name="Object 9"/>
          <p:cNvSpPr/>
          <p:nvPr/>
        </p:nvSpPr>
        <p:spPr>
          <a:xfrm>
            <a:off x="1333167" y="4144482"/>
            <a:ext cx="6018605" cy="2725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ts val="2147"/>
              </a:lnSpc>
              <a:buNone/>
            </a:pPr>
            <a:r>
              <a:rPr lang="en-US" sz="1680" b="1" kern="0" spc="1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Maintenance Analytics Reports</a:t>
            </a:r>
            <a:r>
              <a:rPr lang="en-US" sz="1680" kern="0" spc="1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Monthly paid reports     </a:t>
            </a:r>
            <a:endParaRPr lang="en-US" dirty="0"/>
          </a:p>
        </p:txBody>
      </p:sp>
      <p:pic>
        <p:nvPicPr>
          <p:cNvPr id="11" name="Object 10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0" y="3932841"/>
            <a:ext cx="1142714" cy="971307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42714" y="4823207"/>
            <a:ext cx="5704049" cy="895126"/>
          </a:xfrm>
          <a:prstGeom prst="rect">
            <a:avLst/>
          </a:prstGeom>
        </p:spPr>
      </p:pic>
      <p:sp>
        <p:nvSpPr>
          <p:cNvPr id="13" name="Object 12"/>
          <p:cNvSpPr/>
          <p:nvPr/>
        </p:nvSpPr>
        <p:spPr>
          <a:xfrm>
            <a:off x="1333167" y="5130073"/>
            <a:ext cx="5220419" cy="2725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ts val="2147"/>
              </a:lnSpc>
              <a:buNone/>
            </a:pPr>
            <a:r>
              <a:rPr lang="en-US" sz="1680" b="1" kern="0" spc="1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Enterprise Plan</a:t>
            </a:r>
            <a:r>
              <a:rPr lang="en-US" sz="1680" kern="0" spc="17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Custom installations     </a:t>
            </a:r>
            <a:endParaRPr lang="en-US" dirty="0"/>
          </a:p>
        </p:txBody>
      </p:sp>
      <p:pic>
        <p:nvPicPr>
          <p:cNvPr id="14" name="Object 13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0" y="4918433"/>
            <a:ext cx="1142714" cy="1285554"/>
          </a:xfrm>
          <a:prstGeom prst="rect">
            <a:avLst/>
          </a:prstGeom>
        </p:spPr>
      </p:pic>
      <p:sp>
        <p:nvSpPr>
          <p:cNvPr id="15" name="Object 14"/>
          <p:cNvSpPr/>
          <p:nvPr/>
        </p:nvSpPr>
        <p:spPr>
          <a:xfrm>
            <a:off x="11865183" y="6498116"/>
            <a:ext cx="133317" cy="243303"/>
          </a:xfrm>
          <a:prstGeom prst="rect">
            <a:avLst/>
          </a:prstGeom>
          <a:noFill/>
        </p:spPr>
      </p:sp>
      <p:sp>
        <p:nvSpPr>
          <p:cNvPr id="25" name="Slide Number Placeholder 24"/>
          <p:cNvSpPr>
            <a:spLocks noGrp="1"/>
          </p:cNvSpPr>
          <p:nvPr>
            <p:ph type="sldNum" sz="quarter" idx="4294967295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/>
            </a:lvl1pPr>
          </a:lstStyle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381857"/>
            <a:ext cx="12188952" cy="5408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260"/>
              </a:lnSpc>
              <a:buNone/>
            </a:pPr>
            <a:r>
              <a:rPr lang="en-US" sz="3750" b="1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Vision &amp; Impact  </a:t>
            </a:r>
            <a:endParaRPr lang="en-US" dirty="0"/>
          </a:p>
        </p:txBody>
      </p:sp>
      <p:sp>
        <p:nvSpPr>
          <p:cNvPr id="3" name="Object 2"/>
          <p:cNvSpPr/>
          <p:nvPr/>
        </p:nvSpPr>
        <p:spPr>
          <a:xfrm>
            <a:off x="999875" y="2239720"/>
            <a:ext cx="476131" cy="476131"/>
          </a:xfrm>
          <a:prstGeom prst="ellipse">
            <a:avLst/>
          </a:prstGeom>
          <a:solidFill>
            <a:srgbClr val="00A0B0"/>
          </a:solidFill>
        </p:spPr>
      </p:sp>
      <p:sp>
        <p:nvSpPr>
          <p:cNvPr id="4" name="Object 3"/>
          <p:cNvSpPr/>
          <p:nvPr/>
        </p:nvSpPr>
        <p:spPr>
          <a:xfrm>
            <a:off x="923694" y="2310902"/>
            <a:ext cx="628493" cy="340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ts val="2684"/>
              </a:lnSpc>
              <a:buNone/>
            </a:pPr>
            <a:r>
              <a:rPr lang="en-US" sz="2100" kern="0" spc="2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dirty="0"/>
          </a:p>
        </p:txBody>
      </p:sp>
      <p:sp>
        <p:nvSpPr>
          <p:cNvPr id="5" name="Object 4"/>
          <p:cNvSpPr/>
          <p:nvPr/>
        </p:nvSpPr>
        <p:spPr>
          <a:xfrm>
            <a:off x="1809298" y="2368751"/>
            <a:ext cx="4085203" cy="8759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300"/>
              </a:lnSpc>
              <a:buNone/>
            </a:pPr>
            <a:r>
              <a:rPr lang="en-US" sz="1800" b="1" kern="0" spc="18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 manufacturing units</a:t>
            </a:r>
            <a:r>
              <a:rPr lang="en-US" sz="1800" kern="0" spc="18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by giving them a </a:t>
            </a:r>
            <a:r>
              <a:rPr lang="en-US" sz="1800" b="1" kern="0" spc="18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mirror</a:t>
            </a:r>
            <a:r>
              <a:rPr lang="en-US" sz="1800" kern="0" spc="18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their operations.     </a:t>
            </a:r>
            <a:endParaRPr lang="en-US" dirty="0"/>
          </a:p>
        </p:txBody>
      </p:sp>
      <p:sp>
        <p:nvSpPr>
          <p:cNvPr id="6" name="Object 5"/>
          <p:cNvSpPr/>
          <p:nvPr/>
        </p:nvSpPr>
        <p:spPr>
          <a:xfrm>
            <a:off x="6522994" y="2239720"/>
            <a:ext cx="476131" cy="476131"/>
          </a:xfrm>
          <a:prstGeom prst="ellipse">
            <a:avLst/>
          </a:prstGeom>
          <a:solidFill>
            <a:srgbClr val="00A0B0"/>
          </a:solidFill>
        </p:spPr>
      </p:sp>
      <p:sp>
        <p:nvSpPr>
          <p:cNvPr id="7" name="Object 6"/>
          <p:cNvSpPr/>
          <p:nvPr/>
        </p:nvSpPr>
        <p:spPr>
          <a:xfrm>
            <a:off x="6446813" y="2310902"/>
            <a:ext cx="628493" cy="340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ts val="2684"/>
              </a:lnSpc>
              <a:buNone/>
            </a:pPr>
            <a:r>
              <a:rPr lang="en-US" sz="2100" kern="0" spc="2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dirty="0"/>
          </a:p>
        </p:txBody>
      </p:sp>
      <p:sp>
        <p:nvSpPr>
          <p:cNvPr id="8" name="Object 7"/>
          <p:cNvSpPr/>
          <p:nvPr/>
        </p:nvSpPr>
        <p:spPr>
          <a:xfrm>
            <a:off x="7332416" y="2368751"/>
            <a:ext cx="4085203" cy="583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300"/>
              </a:lnSpc>
              <a:buNone/>
            </a:pPr>
            <a:r>
              <a:rPr lang="en-US" sz="1800" kern="0" spc="18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failures, improve safety, and increase productivity.     </a:t>
            </a:r>
            <a:endParaRPr lang="en-US" dirty="0"/>
          </a:p>
        </p:txBody>
      </p:sp>
      <p:sp>
        <p:nvSpPr>
          <p:cNvPr id="9" name="Object 8"/>
          <p:cNvSpPr/>
          <p:nvPr/>
        </p:nvSpPr>
        <p:spPr>
          <a:xfrm>
            <a:off x="999875" y="3858565"/>
            <a:ext cx="476131" cy="476131"/>
          </a:xfrm>
          <a:prstGeom prst="ellipse">
            <a:avLst/>
          </a:prstGeom>
          <a:solidFill>
            <a:srgbClr val="00A0B0"/>
          </a:solidFill>
        </p:spPr>
      </p:sp>
      <p:sp>
        <p:nvSpPr>
          <p:cNvPr id="10" name="Object 9"/>
          <p:cNvSpPr/>
          <p:nvPr/>
        </p:nvSpPr>
        <p:spPr>
          <a:xfrm>
            <a:off x="923694" y="3929747"/>
            <a:ext cx="628493" cy="340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ts val="2684"/>
              </a:lnSpc>
              <a:buNone/>
            </a:pPr>
            <a:r>
              <a:rPr lang="en-US" sz="2100" kern="0" spc="2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dirty="0"/>
          </a:p>
        </p:txBody>
      </p:sp>
      <p:sp>
        <p:nvSpPr>
          <p:cNvPr id="11" name="Object 10"/>
          <p:cNvSpPr/>
          <p:nvPr/>
        </p:nvSpPr>
        <p:spPr>
          <a:xfrm>
            <a:off x="1809298" y="3987597"/>
            <a:ext cx="4085203" cy="116794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300"/>
              </a:lnSpc>
              <a:buNone/>
            </a:pPr>
            <a:r>
              <a:rPr lang="en-US" sz="1800" kern="0" spc="18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Make digital twin technology </a:t>
            </a:r>
            <a:r>
              <a:rPr lang="en-US" sz="1800" b="1" kern="0" spc="18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accessible, affordable, and scalable</a:t>
            </a:r>
            <a:r>
              <a:rPr lang="en-US" sz="1800" kern="0" spc="18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all sizes of industries.     </a:t>
            </a:r>
            <a:endParaRPr lang="en-US" dirty="0"/>
          </a:p>
        </p:txBody>
      </p:sp>
      <p:sp>
        <p:nvSpPr>
          <p:cNvPr id="12" name="Object 11"/>
          <p:cNvSpPr/>
          <p:nvPr/>
        </p:nvSpPr>
        <p:spPr>
          <a:xfrm>
            <a:off x="6522994" y="3858565"/>
            <a:ext cx="476131" cy="476131"/>
          </a:xfrm>
          <a:prstGeom prst="ellipse">
            <a:avLst/>
          </a:prstGeom>
          <a:solidFill>
            <a:srgbClr val="00A0B0"/>
          </a:solidFill>
        </p:spPr>
      </p:sp>
      <p:sp>
        <p:nvSpPr>
          <p:cNvPr id="13" name="Object 12"/>
          <p:cNvSpPr/>
          <p:nvPr/>
        </p:nvSpPr>
        <p:spPr>
          <a:xfrm>
            <a:off x="6446813" y="3929747"/>
            <a:ext cx="628493" cy="340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ts val="2684"/>
              </a:lnSpc>
              <a:buNone/>
            </a:pPr>
            <a:r>
              <a:rPr lang="en-US" sz="2100" kern="0" spc="2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dirty="0"/>
          </a:p>
        </p:txBody>
      </p:sp>
      <p:sp>
        <p:nvSpPr>
          <p:cNvPr id="14" name="Object 13"/>
          <p:cNvSpPr/>
          <p:nvPr/>
        </p:nvSpPr>
        <p:spPr>
          <a:xfrm>
            <a:off x="7332416" y="3987597"/>
            <a:ext cx="4085203" cy="8759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300"/>
              </a:lnSpc>
              <a:buNone/>
            </a:pPr>
            <a:r>
              <a:rPr lang="en-US" sz="1800" kern="0" spc="18" dirty="0">
                <a:solidFill>
                  <a:srgbClr val="A4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SmartTwin aims to be the simplest pathway to Industry 4.0 adoption.      </a:t>
            </a:r>
            <a:endParaRPr lang="en-US" dirty="0"/>
          </a:p>
        </p:txBody>
      </p:sp>
      <p:sp>
        <p:nvSpPr>
          <p:cNvPr id="15" name="Object 14"/>
          <p:cNvSpPr/>
          <p:nvPr/>
        </p:nvSpPr>
        <p:spPr>
          <a:xfrm>
            <a:off x="11865183" y="6498116"/>
            <a:ext cx="133317" cy="243303"/>
          </a:xfrm>
          <a:prstGeom prst="rect">
            <a:avLst/>
          </a:prstGeom>
          <a:noFill/>
        </p:spPr>
      </p:sp>
      <p:sp>
        <p:nvSpPr>
          <p:cNvPr id="25" name="Slide Number Placeholder 24"/>
          <p:cNvSpPr>
            <a:spLocks noGrp="1"/>
          </p:cNvSpPr>
          <p:nvPr>
            <p:ph type="sldNum" sz="quarter" idx="4294967295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/>
            </a:lvl1pPr>
          </a:lstStyle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1A9E2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706</Words>
  <Application>Microsoft Office PowerPoint</Application>
  <PresentationFormat>Widescreen</PresentationFormat>
  <Paragraphs>76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Roboto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Beautiful.ai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Twin - Digital Twin for Industrial Monitoring</dc:title>
  <dc:subject>Smart Twin - Digital Twin for Industrial Monitoring</dc:subject>
  <dc:creator>shreejoy_2312res622@iitp.ac.in</dc:creator>
  <cp:lastModifiedBy>Shreejoy Sarkar</cp:lastModifiedBy>
  <cp:revision>2</cp:revision>
  <dcterms:created xsi:type="dcterms:W3CDTF">2025-12-02T18:19:16Z</dcterms:created>
  <dcterms:modified xsi:type="dcterms:W3CDTF">2025-12-02T18:23:34Z</dcterms:modified>
</cp:coreProperties>
</file>